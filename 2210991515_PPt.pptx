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2"/>
  </p:notesMasterIdLst>
  <p:handoutMasterIdLst>
    <p:handoutMasterId r:id="rId23"/>
  </p:handoutMasterIdLst>
  <p:sldIdLst>
    <p:sldId id="256" r:id="rId5"/>
    <p:sldId id="257"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68" r:id="rId21"/>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18"/>
    <p:restoredTop sz="94726"/>
  </p:normalViewPr>
  <p:slideViewPr>
    <p:cSldViewPr snapToGrid="0">
      <p:cViewPr varScale="1">
        <p:scale>
          <a:sx n="120" d="100"/>
          <a:sy n="120" d="100"/>
        </p:scale>
        <p:origin x="2048"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4/30/26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4/30/26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US"/>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4694321"/>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3300" dirty="0">
                <a:latin typeface="Times New Roman" panose="02020603050405020304" pitchFamily="18" charset="0"/>
                <a:ea typeface="Calibri" panose="020F0502020204030204" pitchFamily="34" charset="0"/>
                <a:cs typeface="Times New Roman" panose="02020603050405020304" pitchFamily="18" charset="0"/>
              </a:rPr>
              <a:t>Adoption and Scalability of Hydroponic and Aeroponic Farming in India</a:t>
            </a:r>
            <a:endParaRPr lang="en-US" sz="33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Dikshant Jaryal</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Faculty Mentor: Dr. Monika Aggarwal</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 y="0"/>
            <a:ext cx="3848987"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US" sz="1200" b="1" strike="noStrike" spc="-1">
              <a:solidFill>
                <a:srgbClr val="000000"/>
              </a:solidFill>
              <a:latin typeface="Calibri"/>
              <a:ea typeface="MS PGothic"/>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r>
              <a:rPr lang="en-US" dirty="0">
                <a:latin typeface="Times New Roman" panose="02020603050405020304" pitchFamily="18" charset="0"/>
                <a:cs typeface="Times New Roman" panose="02020603050405020304" pitchFamily="18" charset="0"/>
              </a:rPr>
              <a:t>Agriculture in India is undergoing a structural transformation due to increasing pressure from population growth, urbanization, climate variability, and water scarcity. Conventional soil-based farming is becoming less viable in urban and semi-urban regions due to shrinking arable land and declining soil quality. In this context, soilless farming techniques such as hydroponics and aeroponics have emerged as promising alternatives.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Hydroponics involves cultivating plants in nutrient-rich water solutions, while aeroponics uses nutrient mist to nourish plant roots. These technologies enable precise environmental control, higher yields, and significant reductions in water usage (up to 80–90%). Despite these advantages, adoption in India remains limited due to economic, technological, and infrastructural constraints. This study explores the adoption, scalability, and sustainability of these systems within the Indian agricultural ecosystem.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3636335"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Problem Statement</a:t>
            </a:r>
            <a:endParaRPr lang="en" sz="3200" dirty="0">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US" sz="1200" b="1" strike="noStrike" spc="-1">
              <a:solidFill>
                <a:srgbClr val="000000"/>
              </a:solidFill>
              <a:latin typeface="Calibri"/>
              <a:ea typeface="MS PGothic"/>
            </a:endParaRPr>
          </a:p>
        </p:txBody>
      </p:sp>
      <p:sp>
        <p:nvSpPr>
          <p:cNvPr id="5" name="TextShape 2"/>
          <p:cNvSpPr txBox="1"/>
          <p:nvPr/>
        </p:nvSpPr>
        <p:spPr>
          <a:xfrm>
            <a:off x="164008" y="1109742"/>
            <a:ext cx="8838720" cy="2877467"/>
          </a:xfrm>
          <a:prstGeom prst="rect">
            <a:avLst/>
          </a:prstGeom>
          <a:noFill/>
          <a:ln w="9360">
            <a:noFill/>
          </a:ln>
        </p:spPr>
        <p:txBody>
          <a:bodyPr>
            <a:noAutofit/>
          </a:bodyPr>
          <a:lstStyle/>
          <a:p>
            <a:r>
              <a:rPr lang="en-US" dirty="0">
                <a:latin typeface="Times New Roman" panose="02020603050405020304" pitchFamily="18" charset="0"/>
                <a:cs typeface="Times New Roman" panose="02020603050405020304" pitchFamily="18" charset="0"/>
              </a:rPr>
              <a:t>Conventional soil-based agriculture is facing multiple limitations. It consumes nearly 80% of freshwater resources in India, making it unsustainable in water-scarce regions. Additionally, soil degradation, excessive use of fertilizers, and unpredictable climate conditions reduce productivity.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With increasing population and limited cultivable land, there is a growing need for efficient agricultural systems that can produce more food using fewer resources. Therefore, alternative farming methods must be explored to ensure long-term sustainability.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3179135"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Objectives</a:t>
            </a:r>
            <a:endParaRPr lang="en" sz="3200" dirty="0">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US" sz="1200" b="1" strike="noStrike" spc="-1">
              <a:solidFill>
                <a:srgbClr val="000000"/>
              </a:solidFill>
              <a:latin typeface="Calibri"/>
              <a:ea typeface="MS PGothic"/>
            </a:endParaRPr>
          </a:p>
        </p:txBody>
      </p:sp>
      <p:sp>
        <p:nvSpPr>
          <p:cNvPr id="5" name="TextShape 2"/>
          <p:cNvSpPr txBox="1"/>
          <p:nvPr/>
        </p:nvSpPr>
        <p:spPr>
          <a:xfrm>
            <a:off x="164008" y="1109743"/>
            <a:ext cx="8838720" cy="3090118"/>
          </a:xfrm>
          <a:prstGeom prst="rect">
            <a:avLst/>
          </a:prstGeom>
          <a:noFill/>
          <a:ln w="9360">
            <a:noFill/>
          </a:ln>
        </p:spPr>
        <p:txBody>
          <a:bodyPr>
            <a:noAutofit/>
          </a:bodyPr>
          <a:lstStyle/>
          <a:p>
            <a:r>
              <a:rPr lang="en-US" dirty="0">
                <a:latin typeface="Times New Roman" panose="02020603050405020304" pitchFamily="18" charset="0"/>
                <a:cs typeface="Times New Roman" panose="02020603050405020304" pitchFamily="18" charset="0"/>
              </a:rPr>
              <a:t>The main objectives of this study are:</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assess the current level of adoption of hydroponic and aeroponic farming systems in India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analyze the economic, environmental, and technological factors influencing their adoption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evaluate the scalability of these systems across different regions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suggest policy measures and strategies for wider implementation </a:t>
            </a:r>
          </a:p>
          <a:p>
            <a:pPr marL="457200" lvl="0" indent="-317500">
              <a:buClr>
                <a:srgbClr val="000000"/>
              </a:buClr>
              <a:buSzPts val="1400"/>
              <a:buChar char="●"/>
            </a:pPr>
            <a:endParaRPr lang="en-US" sz="18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4455042"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What is Hydroponics?</a:t>
            </a:r>
            <a:endParaRPr lang="en" sz="3200" dirty="0">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US" sz="1200" b="1" strike="noStrike" spc="-1">
              <a:solidFill>
                <a:srgbClr val="000000"/>
              </a:solidFill>
              <a:latin typeface="Calibri"/>
              <a:ea typeface="MS PGothic"/>
            </a:endParaRPr>
          </a:p>
        </p:txBody>
      </p:sp>
      <p:sp>
        <p:nvSpPr>
          <p:cNvPr id="5" name="TextShape 2"/>
          <p:cNvSpPr txBox="1"/>
          <p:nvPr/>
        </p:nvSpPr>
        <p:spPr>
          <a:xfrm>
            <a:off x="164008" y="1109742"/>
            <a:ext cx="8838720" cy="2686081"/>
          </a:xfrm>
          <a:prstGeom prst="rect">
            <a:avLst/>
          </a:prstGeom>
          <a:noFill/>
          <a:ln w="9360">
            <a:noFill/>
          </a:ln>
        </p:spPr>
        <p:txBody>
          <a:bodyPr>
            <a:noAutofit/>
          </a:bodyPr>
          <a:lstStyle/>
          <a:p>
            <a:r>
              <a:rPr lang="en-US" dirty="0">
                <a:latin typeface="Times New Roman" panose="02020603050405020304" pitchFamily="18" charset="0"/>
                <a:cs typeface="Times New Roman" panose="02020603050405020304" pitchFamily="18" charset="0"/>
              </a:rPr>
              <a:t>Hydroponics is a method of growing plants without soil, where roots are immersed in a nutrient-rich water solution. This system allows precise control over nutrients, water, and environmental conditions.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Hydroponics significantly reduces water usage, often by up to 80% compared to traditional farming. It also increases crop yield and allows year-round cultivation. This method is widely used for growing leafy vegetables, herbs, tomatoes, and strawberries.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4222658"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What is Aeroponics?</a:t>
            </a:r>
            <a:endParaRPr lang="en" sz="3200" dirty="0">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US" sz="1200" b="1" strike="noStrike" spc="-1">
              <a:solidFill>
                <a:srgbClr val="000000"/>
              </a:solidFill>
              <a:latin typeface="Calibri"/>
              <a:ea typeface="MS PGothic"/>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r>
              <a:rPr lang="en-US" dirty="0">
                <a:latin typeface="Times New Roman" panose="02020603050405020304" pitchFamily="18" charset="0"/>
                <a:cs typeface="Times New Roman" panose="02020603050405020304" pitchFamily="18" charset="0"/>
              </a:rPr>
              <a:t>Aeroponics is an advanced form of soilless farming where plant roots are suspended in air and nutrients are delivered in the form of a fine mist. This ensures maximum oxygen exposure to roots, resulting in faster growth and higher efficiency.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Aeroponics uses even less water than hydroponics (up to 90% reduction) and produces higher yields. However, it requires precise control systems and is more technologically complex.</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3561907"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Methodology</a:t>
            </a:r>
            <a:endParaRPr lang="en" sz="3200" dirty="0">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US" sz="1200" b="1" strike="noStrike" spc="-1">
              <a:solidFill>
                <a:srgbClr val="000000"/>
              </a:solidFill>
              <a:latin typeface="Calibri"/>
              <a:ea typeface="MS PGothic"/>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r>
              <a:rPr lang="en-US" dirty="0">
                <a:latin typeface="Times New Roman" panose="02020603050405020304" pitchFamily="18" charset="0"/>
                <a:cs typeface="Times New Roman" panose="02020603050405020304" pitchFamily="18" charset="0"/>
              </a:rPr>
              <a:t>This study adopts a mixed-method approach combining both qualitative and quantitative analysis.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Secondary data was collected from academic journals, government reports, and industry publications.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Primary data was gathered through interviews with farmers, agritech startups, and policymakers.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comparative analysis was conducted between hydroponic, aeroponic, and traditional farming systems based on cost, yield, resource usage, and efficiency.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4486940"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Infrastructure Required</a:t>
            </a:r>
            <a:endParaRPr lang="en" sz="3200" dirty="0">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US" sz="1200" b="1" strike="noStrike" spc="-1">
              <a:solidFill>
                <a:srgbClr val="000000"/>
              </a:solidFill>
              <a:latin typeface="Calibri"/>
              <a:ea typeface="MS PGothic"/>
            </a:endParaRPr>
          </a:p>
        </p:txBody>
      </p:sp>
      <p:sp>
        <p:nvSpPr>
          <p:cNvPr id="5" name="TextShape 2"/>
          <p:cNvSpPr txBox="1"/>
          <p:nvPr/>
        </p:nvSpPr>
        <p:spPr>
          <a:xfrm>
            <a:off x="152640" y="852812"/>
            <a:ext cx="8838720" cy="5503708"/>
          </a:xfrm>
          <a:prstGeom prst="rect">
            <a:avLst/>
          </a:prstGeom>
          <a:noFill/>
          <a:ln w="9360">
            <a:noFill/>
          </a:ln>
        </p:spPr>
        <p:txBody>
          <a:bodyPr>
            <a:noAutofit/>
          </a:bodyPr>
          <a:lstStyle/>
          <a:p>
            <a:r>
              <a:rPr lang="en-US" dirty="0">
                <a:latin typeface="Times New Roman" panose="02020603050405020304" pitchFamily="18" charset="0"/>
                <a:cs typeface="Times New Roman" panose="02020603050405020304" pitchFamily="18" charset="0"/>
              </a:rPr>
              <a:t>Hydroponic and aeroponic farming systems require specialized infrastructure to maintain controlled growing conditions and ensure efficient resource utilization.</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Key components include:</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Growth Systems: </a:t>
            </a:r>
            <a:r>
              <a:rPr lang="en-US" dirty="0">
                <a:latin typeface="Times New Roman" panose="02020603050405020304" pitchFamily="18" charset="0"/>
                <a:cs typeface="Times New Roman" panose="02020603050405020304" pitchFamily="18" charset="0"/>
              </a:rPr>
              <a:t>Structures such as Nutrient Film Technique (NFT), Deep Water Culture (DWC), and aeroponic chambers that support plant growth without soil. </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Water &amp; Nutrient Delivery Systems: </a:t>
            </a:r>
            <a:r>
              <a:rPr lang="en-US" dirty="0">
                <a:latin typeface="Times New Roman" panose="02020603050405020304" pitchFamily="18" charset="0"/>
                <a:cs typeface="Times New Roman" panose="02020603050405020304" pitchFamily="18" charset="0"/>
              </a:rPr>
              <a:t>Pumps, pipelines, reservoirs, and sprayers/foggers used to supply nutrient solutions to plant roots. </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Environmental Control Systems: </a:t>
            </a:r>
            <a:r>
              <a:rPr lang="en-US" dirty="0">
                <a:latin typeface="Times New Roman" panose="02020603050405020304" pitchFamily="18" charset="0"/>
                <a:cs typeface="Times New Roman" panose="02020603050405020304" pitchFamily="18" charset="0"/>
              </a:rPr>
              <a:t>Equipment to regulate temperature, humidity, and carbon dioxide levels for optimal plant growth. </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Lighting Systems: </a:t>
            </a:r>
            <a:r>
              <a:rPr lang="en-US" dirty="0">
                <a:latin typeface="Times New Roman" panose="02020603050405020304" pitchFamily="18" charset="0"/>
                <a:cs typeface="Times New Roman" panose="02020603050405020304" pitchFamily="18" charset="0"/>
              </a:rPr>
              <a:t>LED grow lights used in indoor farming setups to provide adequate light for photosynthesis. </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Monitoring &amp; Sensor Systems: </a:t>
            </a:r>
            <a:r>
              <a:rPr lang="en-US" dirty="0">
                <a:latin typeface="Times New Roman" panose="02020603050405020304" pitchFamily="18" charset="0"/>
                <a:cs typeface="Times New Roman" panose="02020603050405020304" pitchFamily="18" charset="0"/>
              </a:rPr>
              <a:t>Sensors to measure pH levels, electrical conductivity (EC), temperature, and moisture for precise control. </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Protective Structures: </a:t>
            </a:r>
            <a:r>
              <a:rPr lang="en-US" dirty="0">
                <a:latin typeface="Times New Roman" panose="02020603050405020304" pitchFamily="18" charset="0"/>
                <a:cs typeface="Times New Roman" panose="02020603050405020304" pitchFamily="18" charset="0"/>
              </a:rPr>
              <a:t>Greenhouses, polyhouses, and vertical farming units to create a controlled environment.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 y="0"/>
            <a:ext cx="5530463"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Current Adoption in India</a:t>
            </a:r>
            <a:endParaRPr lang="en" sz="3200" dirty="0">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US" sz="1200" b="1" strike="noStrike" spc="-1">
              <a:solidFill>
                <a:srgbClr val="000000"/>
              </a:solidFill>
              <a:latin typeface="Calibri"/>
              <a:ea typeface="MS PGothic"/>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r>
              <a:rPr lang="en-US" dirty="0">
                <a:latin typeface="Times New Roman" panose="02020603050405020304" pitchFamily="18" charset="0"/>
                <a:cs typeface="Times New Roman" panose="02020603050405020304" pitchFamily="18" charset="0"/>
              </a:rPr>
              <a:t>Hydroponic and aeroponic farming in India is still at an early stage but is gradually increasing.</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Adoption is mainly observed in:</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Urban and peri-urban farming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Agritech startups in cities like Bengaluru and Pune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Commercial greenhouse farming </a:t>
            </a:r>
          </a:p>
          <a:p>
            <a:r>
              <a:rPr lang="en-US" dirty="0">
                <a:latin typeface="Times New Roman" panose="02020603050405020304" pitchFamily="18" charset="0"/>
                <a:cs typeface="Times New Roman" panose="02020603050405020304" pitchFamily="18" charset="0"/>
              </a:rPr>
              <a:t>However, adoption remains limited due to high initial investment, lack of technical knowledge, and high energy requirements.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4890977"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Performance Comparison</a:t>
            </a:r>
            <a:endParaRPr lang="en" sz="3200" dirty="0">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US" sz="1200" b="1" strike="noStrike" spc="-1">
              <a:solidFill>
                <a:srgbClr val="000000"/>
              </a:solidFill>
              <a:latin typeface="Calibri"/>
              <a:ea typeface="MS PGothic"/>
            </a:endParaRPr>
          </a:p>
        </p:txBody>
      </p:sp>
      <p:sp>
        <p:nvSpPr>
          <p:cNvPr id="5" name="TextShape 2"/>
          <p:cNvSpPr txBox="1"/>
          <p:nvPr/>
        </p:nvSpPr>
        <p:spPr>
          <a:xfrm>
            <a:off x="164008" y="1109742"/>
            <a:ext cx="8838720" cy="2760509"/>
          </a:xfrm>
          <a:prstGeom prst="rect">
            <a:avLst/>
          </a:prstGeom>
          <a:noFill/>
          <a:ln w="9360">
            <a:noFill/>
          </a:ln>
        </p:spPr>
        <p:txBody>
          <a:bodyPr>
            <a:noAutofit/>
          </a:bodyPr>
          <a:lstStyle/>
          <a:p>
            <a:r>
              <a:rPr lang="en-US" dirty="0">
                <a:latin typeface="Times New Roman" panose="02020603050405020304" pitchFamily="18" charset="0"/>
                <a:cs typeface="Times New Roman" panose="02020603050405020304" pitchFamily="18" charset="0"/>
              </a:rPr>
              <a:t>A comparison of different farming systems shows:</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Hydroponics reduces water usage by about 80% and increases yield by nearly 200%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Aeroponics reduces water usage by up to 90% and increases yield by approximately 220%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farming has lower setup costs but lower efficiency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Aeroponics offers the highest efficiency but requires higher investment and technical expertise.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6019560"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Advantages and Challenges</a:t>
            </a:r>
            <a:endParaRPr lang="en" sz="3200" dirty="0">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US" sz="1200" b="1" strike="noStrike" spc="-1">
              <a:solidFill>
                <a:srgbClr val="000000"/>
              </a:solidFill>
              <a:latin typeface="Calibri"/>
              <a:ea typeface="MS PGothic"/>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r>
              <a:rPr lang="en-US" dirty="0">
                <a:latin typeface="Times New Roman" panose="02020603050405020304" pitchFamily="18" charset="0"/>
                <a:cs typeface="Times New Roman" panose="02020603050405020304" pitchFamily="18" charset="0"/>
              </a:rPr>
              <a:t>Hydroponic and aeroponic systems offer several advantages: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Significant water conservation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Higher productivity per unit area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Elimination of soil-borne diseases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Reduced use of pesticides and fertilizers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Ability to grow crops throughout the year </a:t>
            </a:r>
          </a:p>
          <a:p>
            <a:r>
              <a:rPr lang="en-US" dirty="0">
                <a:latin typeface="Times New Roman" panose="02020603050405020304" pitchFamily="18" charset="0"/>
                <a:cs typeface="Times New Roman" panose="02020603050405020304" pitchFamily="18" charset="0"/>
              </a:rPr>
              <a:t>These benefits make them suitable for urban agriculture and controlled environments.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Despite their benefits, several challenges limit adoption: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initial investment for setup and infrastructure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Requirement of skilled labor and technical knowledge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Dependence on electricity for pumps and lighting systems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Lack of awareness and training among farmers </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These factors restrict widespread implementation, especially among small-scale farmers.</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6553080"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Environmental and Economic Impact</a:t>
            </a:r>
            <a:endParaRPr lang="en" sz="3200" dirty="0">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US" sz="1200" b="1" strike="noStrike" spc="-1">
              <a:solidFill>
                <a:srgbClr val="000000"/>
              </a:solidFill>
              <a:latin typeface="Calibri"/>
              <a:ea typeface="MS PGothic"/>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r>
              <a:rPr lang="en-US" dirty="0">
                <a:latin typeface="Times New Roman" panose="02020603050405020304" pitchFamily="18" charset="0"/>
                <a:cs typeface="Times New Roman" panose="02020603050405020304" pitchFamily="18" charset="0"/>
              </a:rPr>
              <a:t>Soilless farming systems provide strong environmental benefits: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 water consumption significantly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Minimize chemical usage and soil degradation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Enable farming in non-arable areas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 transportation costs when implemented in urban areas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These systems contribute to sustainable agriculture and environmental conservation.</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From an economic perspective: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Initial setup cost is high compared to traditional farming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Operational costs include energy and maintenance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However, higher yields and premium pricing improve profitability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These systems are particularly suitable for high-value crops and urban markets</a:t>
            </a:r>
            <a:r>
              <a:rPr lang="en-US" dirty="0"/>
              <a:t>.</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3125972"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Opportunities</a:t>
            </a:r>
            <a:endParaRPr lang="en" sz="3200" dirty="0">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13</a:t>
            </a:fld>
            <a:endParaRPr lang="en-US" sz="1200" b="1" strike="noStrike" spc="-1">
              <a:solidFill>
                <a:srgbClr val="000000"/>
              </a:solidFill>
              <a:latin typeface="Calibri"/>
              <a:ea typeface="MS PGothic"/>
            </a:endParaRPr>
          </a:p>
        </p:txBody>
      </p:sp>
      <p:sp>
        <p:nvSpPr>
          <p:cNvPr id="5" name="TextShape 2"/>
          <p:cNvSpPr txBox="1"/>
          <p:nvPr/>
        </p:nvSpPr>
        <p:spPr>
          <a:xfrm>
            <a:off x="164008" y="1109743"/>
            <a:ext cx="8838720" cy="2739244"/>
          </a:xfrm>
          <a:prstGeom prst="rect">
            <a:avLst/>
          </a:prstGeom>
          <a:noFill/>
          <a:ln w="9360">
            <a:noFill/>
          </a:ln>
        </p:spPr>
        <p:txBody>
          <a:bodyPr>
            <a:noAutofit/>
          </a:bodyPr>
          <a:lstStyle/>
          <a:p>
            <a:r>
              <a:rPr lang="en-US" dirty="0">
                <a:latin typeface="Times New Roman" panose="02020603050405020304" pitchFamily="18" charset="0"/>
                <a:cs typeface="Times New Roman" panose="02020603050405020304" pitchFamily="18" charset="0"/>
              </a:rPr>
              <a:t>There are several opportunities to expand adoption: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Government support through subsidies and policies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Integration with renewable energy such as solar power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Growth of agritech startups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Increasing demand for organic and fresh produce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Training programs and awareness campaigns can further accelerate adoption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3318889"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Conclusion</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14</a:t>
            </a:fld>
            <a:endParaRPr lang="en-US" sz="1200" b="1" strike="noStrike" spc="-1">
              <a:solidFill>
                <a:srgbClr val="000000"/>
              </a:solidFill>
              <a:latin typeface="Calibri"/>
              <a:ea typeface="MS PGothic"/>
            </a:endParaRPr>
          </a:p>
        </p:txBody>
      </p:sp>
      <p:sp>
        <p:nvSpPr>
          <p:cNvPr id="5" name="TextShape 2"/>
          <p:cNvSpPr txBox="1"/>
          <p:nvPr/>
        </p:nvSpPr>
        <p:spPr>
          <a:xfrm>
            <a:off x="164008" y="1109743"/>
            <a:ext cx="8838720" cy="2473430"/>
          </a:xfrm>
          <a:prstGeom prst="rect">
            <a:avLst/>
          </a:prstGeom>
          <a:noFill/>
          <a:ln w="9360">
            <a:noFill/>
          </a:ln>
        </p:spPr>
        <p:txBody>
          <a:bodyPr>
            <a:noAutofit/>
          </a:bodyPr>
          <a:lstStyle/>
          <a:p>
            <a:r>
              <a:rPr lang="en-US" dirty="0">
                <a:latin typeface="Times New Roman" panose="02020603050405020304" pitchFamily="18" charset="0"/>
                <a:cs typeface="Times New Roman" panose="02020603050405020304" pitchFamily="18" charset="0"/>
              </a:rPr>
              <a:t>Hydroponic and aeroponic farming systems have strong potential to transform agriculture in India by improving efficiency, reducing resource usage, and increasing productivity.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However, challenges such as high cost, energy dependency, and lack of technical knowledge must be addressed. With proper policy support, training, and technological advancements, these systems can play a crucial role in achieving sustainable agriculture.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4072270" cy="837720"/>
          </a:xfrm>
          <a:prstGeom prst="rect">
            <a:avLst/>
          </a:prstGeom>
          <a:noFill/>
          <a:ln w="9360">
            <a:noFill/>
          </a:ln>
        </p:spPr>
        <p:txBody>
          <a:bodyPr anchor="ctr">
            <a:noAutofit/>
          </a:bodyPr>
          <a:lstStyle/>
          <a:p>
            <a:pPr algn="ctr">
              <a:lnSpc>
                <a:spcPct val="100000"/>
              </a:lnSpc>
            </a:pPr>
            <a:r>
              <a:rPr lang="en-US" sz="3200" dirty="0"/>
              <a:t>Recommendations</a:t>
            </a:r>
            <a:endParaRPr lang="en" sz="3200" dirty="0">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15</a:t>
            </a:fld>
            <a:endParaRPr lang="en-US" sz="1200" b="1" strike="noStrike" spc="-1">
              <a:solidFill>
                <a:srgbClr val="000000"/>
              </a:solidFill>
              <a:latin typeface="Calibri"/>
              <a:ea typeface="MS PGothic"/>
            </a:endParaRPr>
          </a:p>
        </p:txBody>
      </p:sp>
      <p:sp>
        <p:nvSpPr>
          <p:cNvPr id="5" name="TextShape 2"/>
          <p:cNvSpPr txBox="1"/>
          <p:nvPr/>
        </p:nvSpPr>
        <p:spPr>
          <a:xfrm>
            <a:off x="164008" y="1109742"/>
            <a:ext cx="8838720" cy="2409635"/>
          </a:xfrm>
          <a:prstGeom prst="rect">
            <a:avLst/>
          </a:prstGeom>
          <a:noFill/>
          <a:ln w="9360">
            <a:noFill/>
          </a:ln>
        </p:spPr>
        <p:txBody>
          <a:bodyPr>
            <a:noAutofit/>
          </a:bodyPr>
          <a:lstStyle/>
          <a:p>
            <a:pPr marL="457200" lvl="0" indent="-317500">
              <a:buClr>
                <a:srgbClr val="000000"/>
              </a:buClr>
              <a:buSzPts val="1400"/>
              <a:buChar char="●"/>
            </a:pPr>
            <a:r>
              <a:rPr lang="en-US" dirty="0">
                <a:latin typeface="Times New Roman" panose="02020603050405020304" pitchFamily="18" charset="0"/>
                <a:cs typeface="Times New Roman" panose="02020603050405020304" pitchFamily="18" charset="0"/>
              </a:rPr>
              <a:t>Provide financial support and subsidies to farmers </a:t>
            </a:r>
          </a:p>
          <a:p>
            <a:pPr marL="457200" lvl="0" indent="-317500">
              <a:buClr>
                <a:srgbClr val="000000"/>
              </a:buClr>
              <a:buSzPts val="1400"/>
              <a:buChar char="●"/>
            </a:pPr>
            <a:r>
              <a:rPr lang="en-US" dirty="0">
                <a:latin typeface="Times New Roman" panose="02020603050405020304" pitchFamily="18" charset="0"/>
                <a:cs typeface="Times New Roman" panose="02020603050405020304" pitchFamily="18" charset="0"/>
              </a:rPr>
              <a:t>Develop training programs for skill development </a:t>
            </a:r>
          </a:p>
          <a:p>
            <a:pPr marL="457200" lvl="0" indent="-317500">
              <a:buClr>
                <a:srgbClr val="000000"/>
              </a:buClr>
              <a:buSzPts val="1400"/>
              <a:buChar char="●"/>
            </a:pPr>
            <a:r>
              <a:rPr lang="en-US" dirty="0">
                <a:latin typeface="Times New Roman" panose="02020603050405020304" pitchFamily="18" charset="0"/>
                <a:cs typeface="Times New Roman" panose="02020603050405020304" pitchFamily="18" charset="0"/>
              </a:rPr>
              <a:t>Promote research and innovation in soilless farming </a:t>
            </a:r>
          </a:p>
          <a:p>
            <a:pPr marL="457200" lvl="0" indent="-317500">
              <a:buClr>
                <a:srgbClr val="000000"/>
              </a:buClr>
              <a:buSzPts val="1400"/>
              <a:buChar char="●"/>
            </a:pPr>
            <a:r>
              <a:rPr lang="en-US" dirty="0">
                <a:latin typeface="Times New Roman" panose="02020603050405020304" pitchFamily="18" charset="0"/>
                <a:cs typeface="Times New Roman" panose="02020603050405020304" pitchFamily="18" charset="0"/>
              </a:rPr>
              <a:t>Strengthen market linkages and supply chains </a:t>
            </a:r>
          </a:p>
          <a:p>
            <a:pPr marL="457200" lvl="0" indent="-317500">
              <a:buClr>
                <a:srgbClr val="000000"/>
              </a:buClr>
              <a:buSzPts val="1400"/>
              <a:buChar char="●"/>
            </a:pPr>
            <a:r>
              <a:rPr lang="en-US" dirty="0">
                <a:latin typeface="Times New Roman" panose="02020603050405020304" pitchFamily="18" charset="0"/>
                <a:cs typeface="Times New Roman" panose="02020603050405020304" pitchFamily="18" charset="0"/>
              </a:rPr>
              <a:t>Encourage renewable energy integration</a:t>
            </a:r>
            <a:endParaRPr lang="en-US" sz="18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0"/>
            <a:ext cx="6400000" cy="837720"/>
          </a:xfrm>
          <a:prstGeom prst="rect">
            <a:avLst/>
          </a:prstGeom>
          <a:noFill/>
          <a:ln w="9360">
            <a:noFill/>
          </a:ln>
        </p:spPr>
        <p:txBody>
          <a:bodyPr anchor="ctr">
            <a:noAutofit/>
          </a:bodyPr>
          <a:lstStyle/>
          <a:p>
            <a:pPr algn="ctr">
              <a:lnSpc>
                <a:spcPct val="100000"/>
              </a:lnSpc>
            </a:pPr>
            <a:r>
              <a:rPr lang="en" sz="2800" dirty="0">
                <a:latin typeface="Times New Roman" panose="02020603050405020304" pitchFamily="18" charset="0"/>
                <a:cs typeface="Times New Roman" panose="02020603050405020304" pitchFamily="18" charset="0"/>
              </a:rPr>
              <a:t>Conference Submission Confirmation</a:t>
            </a:r>
          </a:p>
        </p:txBody>
      </p:sp>
      <p:sp>
        <p:nvSpPr>
          <p:cNvPr id="3" name="PageNum"/>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9}" type="slidenum">
              <a:rPr lang="en-US" sz="1200" b="1" strike="noStrike" spc="-1">
                <a:solidFill>
                  <a:srgbClr val="000000"/>
                </a:solidFill>
                <a:latin typeface="Calibri"/>
                <a:ea typeface="MS PGothic"/>
              </a:rPr>
              <a:t>16</a:t>
            </a:fld>
            <a:endParaRPr lang="en-US" sz="1200" b="1" strike="noStrike" spc="-1">
              <a:solidFill>
                <a:srgbClr val="000000"/>
              </a:solidFill>
              <a:latin typeface="Calibri"/>
              <a:ea typeface="MS PGothic"/>
            </a:endParaRPr>
          </a:p>
        </p:txBody>
      </p:sp>
      <p:sp>
        <p:nvSpPr>
          <p:cNvPr id="4" name="Caption"/>
          <p:cNvSpPr txBox="1"/>
          <p:nvPr/>
        </p:nvSpPr>
        <p:spPr>
          <a:xfrm>
            <a:off x="457200" y="900000"/>
            <a:ext cx="8229600" cy="260000"/>
          </a:xfrm>
          <a:prstGeom prst="rect">
            <a:avLst/>
          </a:prstGeom>
          <a:noFill/>
          <a:ln>
            <a:noFill/>
          </a:ln>
        </p:spPr>
        <p:txBody>
          <a:bodyPr anchor="ctr">
            <a:noAutofit/>
          </a:bodyPr>
          <a:lstStyle/>
          <a:p>
            <a:pPr algn="ctr">
              <a:lnSpc>
                <a:spcPct val="100000"/>
              </a:lnSpc>
            </a:pPr>
            <a:endParaRPr lang="en-US" sz="1400" i="1" dirty="0">
              <a:solidFill>
                <a:srgbClr val="555555"/>
              </a:solidFill>
              <a:latin typeface="Times New Roman" panose="02020603050405020304" pitchFamily="18" charset="0"/>
              <a:cs typeface="Times New Roman" panose="02020603050405020304" pitchFamily="18" charset="0"/>
            </a:endParaRPr>
          </a:p>
        </p:txBody>
      </p:sp>
      <p:pic>
        <p:nvPicPr>
          <p:cNvPr id="7" name="Picture 6" descr="A screenshot of a computer&#10;&#10;AI-generated content may be incorrect.">
            <a:extLst>
              <a:ext uri="{FF2B5EF4-FFF2-40B4-BE49-F238E27FC236}">
                <a16:creationId xmlns:a16="http://schemas.microsoft.com/office/drawing/2014/main" id="{9AACFEAD-8E92-6DCB-4062-8D48A22236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066" y="1424763"/>
            <a:ext cx="3857625" cy="3374288"/>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D9AEF78C-4A15-CD43-1791-672AECC2EA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1424764"/>
            <a:ext cx="3917633" cy="33742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17</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Metadata/LabelInfo.xml><?xml version="1.0" encoding="utf-8"?>
<clbl:labelList xmlns:clbl="http://schemas.microsoft.com/office/2020/mipLabelMetadata">
  <clbl:label id="{66f47cd8-41fa-4235-8c80-86b50baa48d7}" enabled="1" method="Standard" siteId="{8331e14a-9134-4288-bf5a-5e2c8412f074}" contentBits="0" removed="0"/>
</clbl:labelList>
</file>

<file path=docProps/app.xml><?xml version="1.0" encoding="utf-8"?>
<Properties xmlns="http://schemas.openxmlformats.org/officeDocument/2006/extended-properties" xmlns:vt="http://schemas.openxmlformats.org/officeDocument/2006/docPropsVTypes">
  <Template/>
  <TotalTime>34731</TotalTime>
  <Words>1207</Words>
  <Application>Microsoft Macintosh PowerPoint</Application>
  <PresentationFormat>On-screen Show (4:3)</PresentationFormat>
  <Paragraphs>140</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Jaryal, Dikshant (NonEmp)</cp:lastModifiedBy>
  <cp:revision>2303</cp:revision>
  <dcterms:created xsi:type="dcterms:W3CDTF">2010-04-09T07:36:15Z</dcterms:created>
  <dcterms:modified xsi:type="dcterms:W3CDTF">2026-04-30T09:01:59Z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